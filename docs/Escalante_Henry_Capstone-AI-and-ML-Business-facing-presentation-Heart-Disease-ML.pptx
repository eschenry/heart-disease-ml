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7986" autoAdjust="0"/>
  </p:normalViewPr>
  <p:slideViewPr>
    <p:cSldViewPr snapToGrid="0">
      <p:cViewPr varScale="1">
        <p:scale>
          <a:sx n="72" d="100"/>
          <a:sy n="72" d="100"/>
        </p:scale>
        <p:origin x="19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758F2-DF5E-4903-97A6-7393818D1F64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2B7C1E-6DEC-4032-9368-226340FBB7B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6628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Summary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b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 Disease Analytics &amp; Patient Segmentation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</a:t>
            </a: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Explore patient segmentation and heart disease prediction.</a:t>
            </a: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Dataset: UCI Heart Disease Dataset.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Findings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models were developed to analyze cardiovascular risk patterns.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delivered the strongest predictive performance (ROC-AUC: 0.958).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 revealed moderate patient grouping structure.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segmentation identified two moderately differentiated patient groups.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risk drivers included cardiac test results, vessel abnormalities, chest pain type, and exercise-related measurements.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 validation is required before operational deployment.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Recommendation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Proceed with further validation and pilot testing before considering clinical or operational implementation.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31225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Challenge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This Matters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Cardiovascular disease remains a significant healthcare challenge. Healthcare organizations seek better ways to: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patient populations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Identify individuals who may require closer monitoring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preventive care initiatives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 allocation of healthcare resources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stratification,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population health analysis,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monitoring strategies,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resource planning.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Drivers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Growing burden of cardiovascular disease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 for earlier risk identification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effective allocation of clinical resources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Support data-informed decision making</a:t>
            </a: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data-driven analysis reveal meaningful patient patterns and support cardiovascular risk assessment?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5022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Overview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 Used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UCI Heart Disease Dataset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Clinical and diagnostic patient data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Cardiovascular risk-related variables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·  15 selected features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Heart disease outcome available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Preparation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Missing values addressed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Duplicate records removed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Outliers treated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 engineered and scaled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prepared for clustering and predictive modeling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81586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Analytical Approach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End-to-End Workflow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Preparation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Exploratory Analysis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Engineering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 Modeling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Explainability Analysis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Bias and Fairness Assessment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Objective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 patient patterns and evaluate predictive potential using machine learning techniques.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0031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Data Insights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Major Findings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Cardiac test variables appear more informative than demographic factors.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Cholesterol and blood pressure alone provide limited separation.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Multiple variables jointly contribute to risk patterns.</a:t>
            </a:r>
          </a:p>
          <a:p>
            <a:pPr marL="171450" lvl="0" indent="-171450" fontAlgn="t">
              <a:buFont typeface="Arial" panose="020B0604020202020204" pitchFamily="34" charset="0"/>
              <a:buChar char="•"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exhibits moderate clustering tendency.</a:t>
            </a:r>
          </a:p>
          <a:p>
            <a:pPr fontAlgn="t"/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Include: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Correlation Matrix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 Highlights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54501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Segmentation Results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Clustering Findings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Hopkins Statistic: 0.681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K-Means Silhouette Score: 0.546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Hierarchical Silhouette Score: 0.540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Interpretation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underlying patient groupings exist, but boundaries are not strongly separated.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 of moderate clustering tendency.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Two broad patient segments were identified.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Significant overlap remains between groups.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Implication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Patient populations may exhibit useful patterns, though segments should be viewed as exploratory rather than definitive risk categories.</a:t>
            </a:r>
          </a:p>
          <a:p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t-SNE figure better supports the business message:</a:t>
            </a:r>
          </a:p>
          <a:p>
            <a:pPr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"There is some evidence of patient segmentation, although the groups are not sharply separated."</a:t>
            </a:r>
          </a:p>
          <a:p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542526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Predictive Modeling Results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Performance Comparison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lang="en-P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		</a:t>
            </a:r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Accuracy 	ROC-AUC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	91.8%	0.958</a:t>
            </a:r>
          </a:p>
          <a:p>
            <a:r>
              <a:rPr lang="en-PH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XGBoost</a:t>
            </a: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		90.2%	0.946</a:t>
            </a: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Logistic Regression	86.9%	0.957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Finding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Random Forest provided the strongest overall performance while maintaining strong interpretability through explainability techniques.</a:t>
            </a:r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7602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Drivers of Cardiovascular Risk</a:t>
            </a:r>
          </a:p>
          <a:p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Influential Factors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predictors identified by SHAP and Feature Importance analyses: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Thalassemia Test Results (</a:t>
            </a:r>
            <a:r>
              <a:rPr lang="en-PH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thal</a:t>
            </a: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Number of Major Vessels (ca)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Chest Pain Type (cp)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 Depression (</a:t>
            </a:r>
            <a:r>
              <a:rPr lang="en-PH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oldpeak</a:t>
            </a: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 Heart Rate (</a:t>
            </a:r>
            <a:r>
              <a:rPr lang="en-PH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thalach</a:t>
            </a:r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Message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decisions were primarily driven by clinically relevant cardiovascular indicators.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64540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Value &amp; Potential ROI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Potential Benefits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Better understanding of patient populations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targeted monitoring initiatives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Data-driven prioritization of follow-up activities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Improved visibility into cardiovascular risk patterns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Important Caveat</a:t>
            </a:r>
          </a:p>
          <a:p>
            <a:pPr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study did not measure financial savings or clinical outcome improvements.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829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Risks and Limitations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Risks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Risks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Limited dataset size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Potential population representativeness concerns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 Risks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Moderate clustering separation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 for external validation</a:t>
            </a:r>
          </a:p>
          <a:p>
            <a:endParaRPr lang="en-PH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Risks</a:t>
            </a:r>
            <a:endParaRPr lang="en-PH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Results should not be used for clinical decision-making without further validation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8558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Responsible AI &amp; Governance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Explainability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 analysis performed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importance reviewed</a:t>
            </a:r>
          </a:p>
          <a:p>
            <a:pPr lvl="0"/>
            <a:r>
              <a:rPr lang="en-PH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behavior evaluated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Fairness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Gender and age available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Race and socioeconomic variables unavailable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Governance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oversight required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 prior to any real-world use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78594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Recommendations &amp; Next Steps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Short-Term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Validate on larger datasets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Conduct subgroup fairness testing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Expand feature coverage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Medium-Term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 risk monitoring dashboards</a:t>
            </a:r>
          </a:p>
          <a:p>
            <a:pPr lvl="0"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Pilot clinician decision-support tools</a:t>
            </a:r>
          </a:p>
          <a:p>
            <a:pPr fontAlgn="t"/>
            <a:endParaRPr lang="en-PH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n-PH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Executive Recommendation</a:t>
            </a:r>
          </a:p>
          <a:p>
            <a:pPr fontAlgn="t"/>
            <a:r>
              <a:rPr lang="en-P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Machine learning shows promise for cardiovascular risk analysis; however, additional clinical validation is required before operational adoption.</a:t>
            </a: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2B7C1E-6DEC-4032-9368-226340FBB7B9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13643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4F97-CABC-D5C0-58FC-3149A42C4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1D430-B7DE-F19A-4CBA-ED2ECF6DF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80CAE-78FE-498B-0FFF-2BFC368B3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22FD5-7380-F9E8-A1EF-9182838C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A1E3F-F176-D41A-078B-37566064B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0629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2193-E007-ACB2-910C-4606980AC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9806E-949C-F404-CD58-7C893C4EE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EF030-9E86-3FED-8EF9-D950C5AB9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281A6-8CA9-44C2-CA10-112827D6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E1E15-BEE1-DEC4-3021-75D44209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39355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BD951-9C37-92E0-0CA0-D60C97C33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19D2E-0B8C-E7CF-DA00-61B143FD1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4C375-FB01-A378-6D5C-177A9F1D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6B982-1AE9-D5B6-D754-BB5478BF8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FD2BA-E624-EF4C-6A9B-88E0C33D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8622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5460D-508B-E9A6-C57B-7E12E100C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AF083-1A32-D53D-9AA1-2D7F34FE36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0C9AD-9B82-FA7B-5DD4-113977B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E4531-EDFA-0D3E-FE42-70384C496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9E981-4113-0A81-4310-C6A1A9A2D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DF4D22-88A7-DE0F-3C86-F767AA54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06497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40EBE-7BCD-F0BD-B895-569A5F6A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57178-0358-11A0-837A-F3A9B47D8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D38AD-A4ED-7D6F-8BAB-4F0193746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7F3B95-5DB1-473A-AC9D-8FBA003A7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08AFA-3A49-6AEE-1FD8-9CFD30D3A8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05EBA-AD36-FB75-F9CA-24B078123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B0A5F-4802-C52B-10A8-5038517B7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C1AFD6-8234-AE6D-09DD-1FAF1C754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5456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F171-F3A5-53C3-FE6B-A5BBC0A22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312513-9D2D-67DB-5190-18E313E7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E9C81-1D2E-74D3-4661-A264FB828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E56009-6794-D559-4522-3009750CE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31839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1ADB45-575C-D418-56F3-6C69D1F9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BF093E-D2EE-2A6A-14FE-F6A252E3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69294-E288-F258-9E3F-5F91A54F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0784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1A7ED-AA6F-EE4C-CB74-E0B78CF42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CD4AB-AAA4-5BED-1CF1-582F3AB6F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E7CD7C-23D8-1D3A-BEB6-12578D2134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E8B51-D680-EF0C-E310-E77030A6D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FD5FB-C2FD-432D-D259-CEA08097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F82D38-88C8-72E2-F211-AAF067BE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1000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37616-5BB3-A777-7C4A-20E2B003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E77EAC-5145-63C2-D935-3A620798BF0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F174D1-DA1C-CC13-A516-2BE44C5F75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2625E-DB53-0379-9D1C-0498E9C5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D4505-EFDD-A589-911E-7C4E7D27B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A69DE6-700D-33F6-07EC-09F5698CA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08043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1028E-8132-6882-A024-A2ED0CCDF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DF44C6-1FF0-E162-069A-4D716FFD9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230D9-4304-DFFE-235B-4B38B15F1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81D52-98DF-8BC8-977E-E88C464BE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11A6A-E22E-78A9-3535-B38FD06B6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93890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63DAC-87A8-49FC-FCA3-4EB81B24E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9CC48-0BD3-41EA-4E59-BA1A30EC5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AEAE0-CC39-8CED-27B2-7F7D3058E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1C546-A6F4-BA18-A500-E08F3E42A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31CBE-E501-8F24-5911-50AFCDA27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2430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C8319C-A125-7EA2-212A-B574CAA61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86359A-75DC-728C-F5CA-968650230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48E4B-7D72-FBAD-640F-02625C3505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5C95E7-C189-42C7-9DB9-7D2EA0C514D1}" type="datetimeFigureOut">
              <a:rPr lang="en-PH" smtClean="0"/>
              <a:t>08/10/2026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07CC1-0794-71B9-4ECA-988B5402AA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B00DA-00D0-9FC5-60F5-FA6B82A0A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CF56EE-4E67-42D2-8FE5-DCBF5A791BBD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08229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2CC1D8-D849-6C11-04CA-5CEE9A52A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848" y="0"/>
            <a:ext cx="10280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61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D9A911-872F-1E1A-211B-BA3D0AF816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4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855A4-3516-20CF-E2F6-237295F61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FFAD06-954D-3173-C559-FF27B9D3D7FF}"/>
              </a:ext>
            </a:extLst>
          </p:cNvPr>
          <p:cNvSpPr txBox="1"/>
          <p:nvPr/>
        </p:nvSpPr>
        <p:spPr>
          <a:xfrm>
            <a:off x="1789044" y="2544417"/>
            <a:ext cx="24311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400" dirty="0"/>
              <a:t>UCI Heart Disease Dataset</a:t>
            </a:r>
          </a:p>
          <a:p>
            <a:endParaRPr lang="en-PH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4956E6-5538-4F1A-75C1-2EF854F9AD32}"/>
              </a:ext>
            </a:extLst>
          </p:cNvPr>
          <p:cNvSpPr txBox="1"/>
          <p:nvPr/>
        </p:nvSpPr>
        <p:spPr>
          <a:xfrm>
            <a:off x="4803919" y="2484785"/>
            <a:ext cx="27951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200" dirty="0"/>
              <a:t>Clinical and diagnostic patient data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200" dirty="0"/>
              <a:t>Cardiovascular risk-related variables</a:t>
            </a:r>
          </a:p>
          <a:p>
            <a:endParaRPr lang="en-PH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F2BED-414C-9D7B-6586-692DB425CB52}"/>
              </a:ext>
            </a:extLst>
          </p:cNvPr>
          <p:cNvSpPr txBox="1"/>
          <p:nvPr/>
        </p:nvSpPr>
        <p:spPr>
          <a:xfrm>
            <a:off x="8182740" y="2544417"/>
            <a:ext cx="2168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PH" sz="1400" dirty="0"/>
              <a:t>Heart disease outcome</a:t>
            </a:r>
          </a:p>
        </p:txBody>
      </p:sp>
    </p:spTree>
    <p:extLst>
      <p:ext uri="{BB962C8B-B14F-4D97-AF65-F5344CB8AC3E}">
        <p14:creationId xmlns:p14="http://schemas.microsoft.com/office/powerpoint/2010/main" val="2612264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FFE7BC-9B5D-2DB7-D76E-538714F60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5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C9C5624-1380-64B6-946F-432AB8C41E3B}"/>
              </a:ext>
            </a:extLst>
          </p:cNvPr>
          <p:cNvGrpSpPr/>
          <p:nvPr/>
        </p:nvGrpSpPr>
        <p:grpSpPr>
          <a:xfrm>
            <a:off x="952500" y="2"/>
            <a:ext cx="10287000" cy="6858000"/>
            <a:chOff x="952500" y="2"/>
            <a:chExt cx="10287000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5ADD87D-7DC0-2345-5368-2E24CABFA4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2"/>
              <a:ext cx="10287000" cy="6858000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3FE9DDD-7341-30A6-A513-60D39538C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24939" y="1099933"/>
              <a:ext cx="5075583" cy="43375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953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8AE29FB-F897-5A07-7612-22753ADA4DF5}"/>
              </a:ext>
            </a:extLst>
          </p:cNvPr>
          <p:cNvGrpSpPr/>
          <p:nvPr/>
        </p:nvGrpSpPr>
        <p:grpSpPr>
          <a:xfrm>
            <a:off x="952500" y="0"/>
            <a:ext cx="10447683" cy="6858000"/>
            <a:chOff x="952500" y="0"/>
            <a:chExt cx="10447683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7E34690-D937-B413-91D1-087469061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C3B060D-0417-7AFF-7D88-15FFA7EA24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56583" y="929530"/>
              <a:ext cx="5943600" cy="46278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19062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D579D8-E479-B474-62AD-31F11FA85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CB509C1-BB85-4AD5-2A62-6122132ED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005" y="1961321"/>
            <a:ext cx="9680291" cy="2941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46CDC6A-459E-9C0E-DCBC-68B7394465B2}"/>
              </a:ext>
            </a:extLst>
          </p:cNvPr>
          <p:cNvSpPr txBox="1"/>
          <p:nvPr/>
        </p:nvSpPr>
        <p:spPr>
          <a:xfrm>
            <a:off x="1934818" y="2955235"/>
            <a:ext cx="25403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400" b="1" dirty="0"/>
              <a:t>After Hyperparameter Tuning</a:t>
            </a:r>
            <a:endParaRPr lang="en-PH" sz="1400" dirty="0"/>
          </a:p>
        </p:txBody>
      </p:sp>
    </p:spTree>
    <p:extLst>
      <p:ext uri="{BB962C8B-B14F-4D97-AF65-F5344CB8AC3E}">
        <p14:creationId xmlns:p14="http://schemas.microsoft.com/office/powerpoint/2010/main" val="2582448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9115260-341F-583E-C519-F80A62EBB97F}"/>
              </a:ext>
            </a:extLst>
          </p:cNvPr>
          <p:cNvGrpSpPr/>
          <p:nvPr/>
        </p:nvGrpSpPr>
        <p:grpSpPr>
          <a:xfrm>
            <a:off x="952500" y="0"/>
            <a:ext cx="10300253" cy="6858000"/>
            <a:chOff x="952500" y="0"/>
            <a:chExt cx="10300253" cy="6858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34C1B51-F452-222B-4F13-F0811900D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2500" y="0"/>
              <a:ext cx="10287000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2EE9C8-FE6E-E8E3-123F-3202EF7F5CEB}"/>
                </a:ext>
              </a:extLst>
            </p:cNvPr>
            <p:cNvSpPr txBox="1"/>
            <p:nvPr/>
          </p:nvSpPr>
          <p:spPr>
            <a:xfrm>
              <a:off x="2637183" y="2186609"/>
              <a:ext cx="217232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sz="1400" dirty="0"/>
                <a:t>Thalassemia Test Results 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5DC7E90-2CFB-226B-8796-A823BB26B68E}"/>
                </a:ext>
              </a:extLst>
            </p:cNvPr>
            <p:cNvSpPr txBox="1"/>
            <p:nvPr/>
          </p:nvSpPr>
          <p:spPr>
            <a:xfrm>
              <a:off x="2637180" y="2683565"/>
              <a:ext cx="215514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sz="1400" dirty="0"/>
                <a:t>Number of Major Vessels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D8D0EE0-7556-3A1F-821C-48357F8FB5CF}"/>
                </a:ext>
              </a:extLst>
            </p:cNvPr>
            <p:cNvSpPr txBox="1"/>
            <p:nvPr/>
          </p:nvSpPr>
          <p:spPr>
            <a:xfrm>
              <a:off x="3326294" y="3222103"/>
              <a:ext cx="14521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sz="1400" dirty="0"/>
                <a:t>Chest Pain Type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B679399-0601-6B74-2524-FDDF2154B5EA}"/>
                </a:ext>
              </a:extLst>
            </p:cNvPr>
            <p:cNvSpPr txBox="1"/>
            <p:nvPr/>
          </p:nvSpPr>
          <p:spPr>
            <a:xfrm>
              <a:off x="3396874" y="3744651"/>
              <a:ext cx="13281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sz="1400" dirty="0"/>
                <a:t>ST Depression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07E7885-AFD4-560E-8C0B-6B71C4E3716A}"/>
                </a:ext>
              </a:extLst>
            </p:cNvPr>
            <p:cNvSpPr txBox="1"/>
            <p:nvPr/>
          </p:nvSpPr>
          <p:spPr>
            <a:xfrm>
              <a:off x="2933049" y="4275649"/>
              <a:ext cx="18551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PH" sz="1400" dirty="0"/>
                <a:t>Maximum Heart Rate </a:t>
              </a:r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DF00A38-D3AF-0A31-8242-B57364A87B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5289" y="1040985"/>
              <a:ext cx="6197464" cy="43710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7110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FB9F3-5FDD-00EC-BA81-86CFA5F1B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19E5F60-0F08-14BF-60BB-B3647B85EC93}"/>
              </a:ext>
            </a:extLst>
          </p:cNvPr>
          <p:cNvSpPr txBox="1"/>
          <p:nvPr/>
        </p:nvSpPr>
        <p:spPr>
          <a:xfrm>
            <a:off x="3712014" y="1007165"/>
            <a:ext cx="23839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400" b="1" dirty="0">
                <a:solidFill>
                  <a:schemeClr val="accent1">
                    <a:lumMod val="75000"/>
                  </a:schemeClr>
                </a:solidFill>
                <a:latin typeface="Aharoni" panose="020F0502020204030204" pitchFamily="2" charset="-79"/>
                <a:ea typeface="ADLaM Display" panose="020F0502020204030204" pitchFamily="2" charset="0"/>
                <a:cs typeface="Aharoni" panose="020F0502020204030204" pitchFamily="2" charset="-79"/>
              </a:rPr>
              <a:t>&amp; Potential ROI</a:t>
            </a:r>
          </a:p>
          <a:p>
            <a:endParaRPr lang="en-PH" sz="2400" dirty="0">
              <a:solidFill>
                <a:schemeClr val="accent1">
                  <a:lumMod val="75000"/>
                </a:schemeClr>
              </a:solidFill>
              <a:latin typeface="Aharoni" panose="020F0502020204030204" pitchFamily="2" charset="-79"/>
              <a:ea typeface="ADLaM Display" panose="020F0502020204030204" pitchFamily="2" charset="0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44491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7E56F4-B60E-21CF-4F36-79C4C0A634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151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B9962E-6BD1-1ACA-805D-9AEA136CA8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8908A5-3759-C268-1274-1F5239B24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9055" y="2968486"/>
            <a:ext cx="2254319" cy="1933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70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5AEBAA-31B0-5301-76CE-6B1908A35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494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740</Words>
  <Application>Microsoft Office PowerPoint</Application>
  <PresentationFormat>Widescreen</PresentationFormat>
  <Paragraphs>190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Aharoni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Escalante</dc:creator>
  <cp:lastModifiedBy>Henry Escalante</cp:lastModifiedBy>
  <cp:revision>28</cp:revision>
  <dcterms:created xsi:type="dcterms:W3CDTF">2026-10-06T16:03:46Z</dcterms:created>
  <dcterms:modified xsi:type="dcterms:W3CDTF">2026-10-07T20:39:38Z</dcterms:modified>
</cp:coreProperties>
</file>