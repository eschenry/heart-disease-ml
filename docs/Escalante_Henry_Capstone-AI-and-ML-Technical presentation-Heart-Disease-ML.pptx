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schenry/Heart-Disease-ML.gi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Heart Disease Prediction and Patient Segmentation Using Machine Learning</a:t>
            </a:r>
          </a:p>
          <a:p>
            <a:pPr>
              <a:spcAft>
                <a:spcPts val="1000"/>
              </a:spcAft>
              <a:defRPr sz="2000" b="1">
                <a:solidFill>
                  <a:srgbClr val="009688"/>
                </a:solidFill>
                <a:latin typeface="Arial"/>
              </a:defRPr>
            </a:pPr>
            <a:r>
              <a:t>• UCI Heart Disease Dataset</a:t>
            </a:r>
          </a:p>
          <a:p>
            <a:pPr>
              <a:spcAft>
                <a:spcPts val="1000"/>
              </a:spcAft>
              <a:defRPr sz="2000" b="1">
                <a:solidFill>
                  <a:srgbClr val="009688"/>
                </a:solidFill>
                <a:latin typeface="Arial"/>
              </a:defRPr>
            </a:pPr>
            <a:r>
              <a:t>• Supervised and Unsupervised Learning</a:t>
            </a:r>
          </a:p>
          <a:p>
            <a:pPr>
              <a:spcAft>
                <a:spcPts val="1000"/>
              </a:spcAft>
              <a:defRPr sz="2000" b="1">
                <a:solidFill>
                  <a:srgbClr val="009688"/>
                </a:solidFill>
                <a:latin typeface="Arial"/>
              </a:defRPr>
            </a:pPr>
            <a:r>
              <a:t>• Explainability and Responsible AI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C9297-D60E-A0CC-5414-0B630517F0A2}"/>
              </a:ext>
            </a:extLst>
          </p:cNvPr>
          <p:cNvSpPr txBox="1"/>
          <p:nvPr/>
        </p:nvSpPr>
        <p:spPr>
          <a:xfrm>
            <a:off x="9134574" y="5825517"/>
            <a:ext cx="22536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Henry Escalante</a:t>
            </a:r>
          </a:p>
          <a:p>
            <a:r>
              <a:rPr lang="en-PH" dirty="0">
                <a:solidFill>
                  <a:schemeClr val="bg1"/>
                </a:solidFill>
              </a:rPr>
              <a:t>Date: October 8, 2026</a:t>
            </a:r>
          </a:p>
          <a:p>
            <a:endParaRPr lang="en-PH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813" y="341573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rPr dirty="0"/>
              <a:t>Core Objective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Investigate whether machine learning can: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Predict heart disease status from clinical variables.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Identify distinct patient groupings using unsupervised learning techniques.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Understand which clinical factors most strongly influence model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4524" y="34290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rPr dirty="0"/>
              <a:t>Research Questions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?  Which model provides the strongest predictive performance?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?  Do meaningful, clinically relevant patient clusters exist within the data?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dirty="0"/>
              <a:t>?  Which clinical variables contribute most to predictions?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88DDF-D4DA-3498-558F-26001EA4FE5E}"/>
              </a:ext>
            </a:extLst>
          </p:cNvPr>
          <p:cNvSpPr txBox="1"/>
          <p:nvPr/>
        </p:nvSpPr>
        <p:spPr>
          <a:xfrm>
            <a:off x="572731" y="1341130"/>
            <a:ext cx="11063745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rPr lang="en-US" dirty="0"/>
              <a:t>Business Problem</a:t>
            </a:r>
            <a:endParaRPr dirty="0"/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lang="en-PH" dirty="0">
                <a:solidFill>
                  <a:srgbClr val="505A64"/>
                </a:solidFill>
                <a:latin typeface="Arial"/>
              </a:rPr>
              <a:t>If identifiable groups are present, they may provide useful insights for future research on preventive care programs, monitoring approaches, and resource allocation.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rPr sz="2000" dirty="0"/>
              <a:t>Dataset Overview: UCI Heart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4638"/>
            <a:ext cx="512064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rPr sz="2200" dirty="0"/>
              <a:t>Clinical Variables (Features)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Age &amp; Sex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Chest Pain Type (cp)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Cholesterol &amp; Resting Blood Pressure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Maximum Heart Rate (</a:t>
            </a:r>
            <a:r>
              <a:rPr sz="1100" dirty="0" err="1"/>
              <a:t>thalach</a:t>
            </a:r>
            <a:r>
              <a:rPr sz="1100" dirty="0"/>
              <a:t>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ST Depression (</a:t>
            </a:r>
            <a:r>
              <a:rPr sz="1100" dirty="0" err="1"/>
              <a:t>oldpeak</a:t>
            </a:r>
            <a:r>
              <a:rPr sz="1100" dirty="0"/>
              <a:t>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Number of Major Vessels (ca)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Thalassemia Result (</a:t>
            </a:r>
            <a:r>
              <a:rPr sz="1100" dirty="0" err="1"/>
              <a:t>thal</a:t>
            </a:r>
            <a:r>
              <a:rPr sz="11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4476" y="844638"/>
            <a:ext cx="512064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rPr sz="2200" dirty="0"/>
              <a:t>Target Class</a:t>
            </a:r>
          </a:p>
          <a:p>
            <a:pPr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rPr sz="1100" dirty="0"/>
              <a:t>Binary Prediction Target: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Heart Disease present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No Heart Disease (Healthy)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53076-1561-C5CA-BE7E-66CF8B19566C}"/>
              </a:ext>
            </a:extLst>
          </p:cNvPr>
          <p:cNvSpPr txBox="1"/>
          <p:nvPr/>
        </p:nvSpPr>
        <p:spPr>
          <a:xfrm>
            <a:off x="685800" y="3681168"/>
            <a:ext cx="1081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rPr sz="2000" dirty="0"/>
              <a:t>Methodology &amp;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CAFD9-29BE-5064-BFDE-87A6764C9682}"/>
              </a:ext>
            </a:extLst>
          </p:cNvPr>
          <p:cNvSpPr txBox="1"/>
          <p:nvPr/>
        </p:nvSpPr>
        <p:spPr>
          <a:xfrm>
            <a:off x="685800" y="4049753"/>
            <a:ext cx="3328416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Supervised Models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Logistic Regression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Decision Tree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Random Forest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</a:t>
            </a:r>
            <a:r>
              <a:rPr sz="1100" dirty="0" err="1"/>
              <a:t>XGBoost</a:t>
            </a:r>
            <a:endParaRPr sz="1100" dirty="0"/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SVM (RBF)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EE19C-4229-5CD9-3757-A549BCAC14DE}"/>
              </a:ext>
            </a:extLst>
          </p:cNvPr>
          <p:cNvSpPr txBox="1"/>
          <p:nvPr/>
        </p:nvSpPr>
        <p:spPr>
          <a:xfrm>
            <a:off x="4425696" y="4049753"/>
            <a:ext cx="3328416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Unsupervised Models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K-Means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Hierarchical Clustering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• DBSCAN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243AE-AAA0-2C81-8077-BFD1E4318305}"/>
              </a:ext>
            </a:extLst>
          </p:cNvPr>
          <p:cNvSpPr txBox="1"/>
          <p:nvPr/>
        </p:nvSpPr>
        <p:spPr>
          <a:xfrm>
            <a:off x="8165592" y="4049753"/>
            <a:ext cx="3328416" cy="257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Evaluation Metrics</a:t>
            </a:r>
          </a:p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Arial"/>
              </a:defRPr>
            </a:pPr>
            <a:r>
              <a:rPr sz="1100" dirty="0"/>
              <a:t>Supervised: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- Accuracy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- ROC-AUC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- F1 Score</a:t>
            </a:r>
          </a:p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Arial"/>
              </a:defRPr>
            </a:pPr>
            <a:r>
              <a:rPr sz="1100" dirty="0"/>
              <a:t>Unsupervised: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- Hopkins Statistic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rPr sz="1100" dirty="0"/>
              <a:t>- Silhouette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197F65-8148-C5CE-F240-30822E10FF36}"/>
              </a:ext>
            </a:extLst>
          </p:cNvPr>
          <p:cNvSpPr txBox="1"/>
          <p:nvPr/>
        </p:nvSpPr>
        <p:spPr>
          <a:xfrm>
            <a:off x="685800" y="6314948"/>
            <a:ext cx="5877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GitHub: </a:t>
            </a:r>
            <a:r>
              <a:rPr lang="en-PH" b="1" u="sng" dirty="0">
                <a:hlinkClick r:id="rId2"/>
              </a:rPr>
              <a:t>https://github.com/eschenry/Heart-Disease-ML.git</a:t>
            </a:r>
            <a:endParaRPr lang="en-PH" dirty="0"/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rPr sz="2200" dirty="0"/>
              <a:t>Supervised Model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78128"/>
              </p:ext>
            </p:extLst>
          </p:nvPr>
        </p:nvGraphicFramePr>
        <p:xfrm>
          <a:off x="685800" y="891771"/>
          <a:ext cx="8345080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  <a:defRPr sz="1500" b="1">
                          <a:solidFill>
                            <a:srgbClr val="009688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1">
                          <a:solidFill>
                            <a:srgbClr val="009688"/>
                          </a:solidFill>
                          <a:latin typeface="Arial"/>
                        </a:defRPr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1">
                          <a:solidFill>
                            <a:srgbClr val="009688"/>
                          </a:solidFill>
                          <a:latin typeface="Arial"/>
                        </a:defRPr>
                      </a:pPr>
                      <a:r>
                        <a:t>0.963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1">
                          <a:solidFill>
                            <a:srgbClr val="009688"/>
                          </a:solidFill>
                          <a:latin typeface="Arial"/>
                        </a:defRPr>
                      </a:pPr>
                      <a:r>
                        <a:t>0.931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rPr dirty="0"/>
                        <a:t>SVM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0.885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0.873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0.721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0.723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5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rPr dirty="0"/>
                        <a:t>0.712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2886488"/>
            <a:ext cx="10817352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9688"/>
                </a:solidFill>
                <a:latin typeface="Arial"/>
              </a:defRPr>
            </a:pPr>
            <a:r>
              <a:rPr sz="1200" dirty="0"/>
              <a:t>⭐ Key Observation: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200" dirty="0"/>
              <a:t>Random Forest achieved the strongest overall performance across all evaluation metrics, indicating its high resilience and capability on this clinical structure.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A3A99-FC2A-ABA5-A0F6-DC7412E0337B}"/>
              </a:ext>
            </a:extLst>
          </p:cNvPr>
          <p:cNvSpPr txBox="1"/>
          <p:nvPr/>
        </p:nvSpPr>
        <p:spPr>
          <a:xfrm>
            <a:off x="685800" y="4020536"/>
            <a:ext cx="108173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rPr sz="2200" dirty="0"/>
              <a:t>Hyperparameter Tuning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45468-BC60-D17F-4929-96F9AB3AFB18}"/>
              </a:ext>
            </a:extLst>
          </p:cNvPr>
          <p:cNvSpPr txBox="1"/>
          <p:nvPr/>
        </p:nvSpPr>
        <p:spPr>
          <a:xfrm>
            <a:off x="685800" y="4483390"/>
            <a:ext cx="51206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C2340"/>
                </a:solidFill>
                <a:latin typeface="Arial"/>
              </a:defRPr>
            </a:pPr>
            <a:r>
              <a:rPr sz="1600" dirty="0"/>
              <a:t>Random Forest Tuning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050" dirty="0"/>
              <a:t>✔  Accuracy: 0.918 → 0.934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050" dirty="0"/>
              <a:t>✔  ROC-AUC: 0.958 → 0.963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050" dirty="0"/>
              <a:t>✔  F1: 0.915 → 0.931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DE44C-AD3D-0F5C-BE3C-6DF43562227D}"/>
              </a:ext>
            </a:extLst>
          </p:cNvPr>
          <p:cNvSpPr txBox="1"/>
          <p:nvPr/>
        </p:nvSpPr>
        <p:spPr>
          <a:xfrm>
            <a:off x="5392694" y="4483390"/>
            <a:ext cx="5120640" cy="91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C2340"/>
                </a:solidFill>
                <a:latin typeface="Arial"/>
              </a:defRPr>
            </a:pPr>
            <a:r>
              <a:rPr sz="1600" dirty="0"/>
              <a:t>SVM Tuning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050" dirty="0"/>
              <a:t>✔  Accuracy: 0.689 → 0.885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050" dirty="0"/>
              <a:t>✔  F1: 0.578 → 0.873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DC6236-F56D-C1C3-9359-C534AB23C890}"/>
              </a:ext>
            </a:extLst>
          </p:cNvPr>
          <p:cNvSpPr txBox="1"/>
          <p:nvPr/>
        </p:nvSpPr>
        <p:spPr>
          <a:xfrm>
            <a:off x="685800" y="5896469"/>
            <a:ext cx="10817352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9688"/>
                </a:solidFill>
                <a:latin typeface="Arial"/>
              </a:defRPr>
            </a:pPr>
            <a:r>
              <a:rPr sz="1200" dirty="0"/>
              <a:t>Observation: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rPr sz="1200" dirty="0"/>
              <a:t>The largest relative performance improvement was observed in the SVM after systematic hyperparameter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Model Explainability &amp;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t>Methods Used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Random Forest Global Feature Importance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SHAP (SHapley Additive exPlanations)</a:t>
            </a:r>
          </a:p>
          <a:p>
            <a:pPr>
              <a:spcAft>
                <a:spcPts val="10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t>Top Global Predictors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thal (Thalassemia Result)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ca (Number of Major Vessels)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cp (Chest Pain Type)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oldpeak (ST Depression)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thalach (Max Heart Rate)</a:t>
            </a:r>
          </a:p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Arial"/>
              </a:defRPr>
            </a:pPr>
            <a:r>
              <a:t>Key Finding: Feature rankings were broadly consistent across SHAP values and RF internal importance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t>[ Insert SHAP Summary Plot Here 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89E25-D106-5022-A9A4-FF86729D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67130"/>
            <a:ext cx="5943600" cy="5529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Clinical Interpretation of SHAP Values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457200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t>[ Insert SHAP Summary Figure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645920"/>
            <a:ext cx="5833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t>Clinical Associations</a:t>
            </a:r>
          </a:p>
          <a:p>
            <a:pPr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t>Higher risk predictions were commonly associated with: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Increased oldpeak (ST depression during exercise)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Abnormal thal (thalassemia) results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More affected major vessels (ca)</a:t>
            </a:r>
          </a:p>
          <a:p>
            <a:pPr lvl="1"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Lower maximum heart rate achieved (thalach)</a:t>
            </a:r>
          </a:p>
          <a:p>
            <a:pPr>
              <a:spcAft>
                <a:spcPts val="500"/>
              </a:spcAft>
              <a:defRPr sz="1800" b="1">
                <a:solidFill>
                  <a:srgbClr val="0C2340"/>
                </a:solidFill>
                <a:latin typeface="Arial"/>
              </a:defRPr>
            </a:pPr>
            <a:r>
              <a:t>⚠️ Critical Warning:</a:t>
            </a:r>
          </a:p>
          <a:p>
            <a:pPr>
              <a:spcAft>
                <a:spcPts val="1000"/>
              </a:spcAft>
              <a:defRPr sz="1600" b="0">
                <a:solidFill>
                  <a:srgbClr val="505A64"/>
                </a:solidFill>
                <a:latin typeface="Arial"/>
              </a:defRPr>
            </a:pPr>
            <a:r>
              <a:t>SHAP values explain statistical associations built by the machine learning model, not physiological causation.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6429FF-6DDA-696F-7832-717D5909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2465"/>
            <a:ext cx="4741606" cy="5285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Patient Segmentation (Unsupervised)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108173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Optimum Clusters Found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Silhouette Score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0.546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Hierarchical 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No Valid Solution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  <a:defRPr sz="1600" b="0">
                          <a:solidFill>
                            <a:srgbClr val="505A64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9688"/>
                </a:solidFill>
                <a:latin typeface="Arial"/>
              </a:defRPr>
            </a:pPr>
            <a:r>
              <a:t>Core Finding: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Moderate cluster structures exist when evaluating silhouette scores; however, cluster separation remains limited. DBSCAN failed to isolate valid density groupings, confirming that boundaries are soft.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Dimensionality Reduction &amp; Visualization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365760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t>[ Insert PCA Visualization Here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82512" y="1645920"/>
            <a:ext cx="5120640" cy="3657600"/>
          </a:xfrm>
          <a:prstGeom prst="roundRect">
            <a:avLst/>
          </a:prstGeom>
          <a:solidFill>
            <a:srgbClr val="F5F7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505A64"/>
                </a:solidFill>
                <a:latin typeface="Arial"/>
              </a:defRPr>
            </a:pPr>
            <a:r>
              <a:t>[ Insert t-SNE Visualization Here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C2340"/>
                </a:solidFill>
                <a:latin typeface="Arial"/>
              </a:defRPr>
            </a:pPr>
            <a:r>
              <a:t>Observation: Some grouping tendency is visually apparent, but substantial overlapping indicates lack of strict separation between patient cohorts.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692CC-41B0-0ADC-4EC2-6D91305EE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41" y="1057276"/>
            <a:ext cx="5326012" cy="4317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2830AF-3F65-84A8-00BD-1CCBB7FD7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85" y="1109321"/>
            <a:ext cx="5326012" cy="42799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Key Technical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t>Dataset Limitations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Relatively small public repository scale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Lack of structural &amp; clinical demographic diversity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No external clinical cohort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t>Fairness &amp; Data Gaps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Race and geographic details are missing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Socioeconomic variables not available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Algorithmic fairness metrics were not formally computed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064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C2340"/>
                </a:solidFill>
                <a:latin typeface="Arial"/>
              </a:defRPr>
            </a:pPr>
            <a:r>
              <a:t>Crucial Implication: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Results must strictly be interpreted as exploratory clinical findings, not ready for deploying as medical diagnostic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Business Problem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C2340"/>
                </a:solidFill>
                <a:latin typeface="Arial"/>
              </a:defRPr>
            </a:pPr>
            <a:r>
              <a:t>Was the business objective achieved?</a:t>
            </a:r>
          </a:p>
          <a:p>
            <a:pPr>
              <a:spcAft>
                <a:spcPts val="1000"/>
              </a:spcAft>
              <a:defRPr sz="2800" b="1">
                <a:solidFill>
                  <a:srgbClr val="009688"/>
                </a:solidFill>
                <a:latin typeface="Arial"/>
              </a:defRPr>
            </a:pPr>
            <a:r>
              <a:t>Answer: PARTIALLY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505A64"/>
                </a:solidFill>
                <a:latin typeface="Arial"/>
              </a:defRPr>
            </a:pPr>
            <a:r>
              <a:t>Findings indicate: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Some weak-to-moderate data clustering tendencies exist inside the clinical features.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Exactly two patient groupings were successfully identified and visualised.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The operational separation boundary between these groups is highly moderate.</a:t>
            </a:r>
          </a:p>
          <a:p>
            <a:pPr>
              <a:spcAft>
                <a:spcPts val="1000"/>
              </a:spcAft>
              <a:defRPr sz="2000" b="1">
                <a:solidFill>
                  <a:srgbClr val="0C2340"/>
                </a:solidFill>
                <a:latin typeface="Arial"/>
              </a:defRPr>
            </a:pPr>
            <a:r>
              <a:t>Therefore: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These patient clusters should strictly be managed as exploratory cohorts, rather than definitive clinical risk subcategories.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Data Science Problem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t>Empirical Evidence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Hopkins Statistic = 0.681 (indicates clustering tendencies exist but are not extreme)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K-Means Silhouette Score = 0.546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Hierarchical Silhouette Score = 0.540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• Significant overlap observed on 2D projection plots (PCA &amp; t-SNE)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t>Scientific Interpretation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The analysis verifies that the UCI patient cohort possesses moderate cluster signals.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However, it lack strongly separated boundaries. Attempting to create concrete diagnoses purely based on unsupervised clustering will yield highly erroneous overlaps.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2340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09688"/>
                </a:solidFill>
                <a:latin typeface="Arial"/>
              </a:defRPr>
            </a:pPr>
            <a:r>
              <a:t>Key Findings Summary</a:t>
            </a:r>
          </a:p>
          <a:p>
            <a:pPr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Random Forest models achieved the most robust performance predicting diagnostic target status.</a:t>
            </a:r>
          </a:p>
          <a:p>
            <a:pPr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SHAP frameworks identified clinically consistent predictors (thal, ca, oldpeak).</a:t>
            </a:r>
          </a:p>
          <a:p>
            <a:pPr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K-Means and Hierarchical Clustering models categorized two patient segments.</a:t>
            </a:r>
          </a:p>
          <a:p>
            <a:pPr>
              <a:spcAft>
                <a:spcPts val="1000"/>
              </a:spcAft>
              <a:defRPr sz="1700" b="0">
                <a:solidFill>
                  <a:srgbClr val="505A64"/>
                </a:solidFill>
                <a:latin typeface="Arial"/>
              </a:defRPr>
            </a:pPr>
            <a:r>
              <a:t>• Fairness analysis remains incomplete due to public data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0C2340"/>
                </a:solidFill>
                <a:latin typeface="Arial"/>
              </a:defRPr>
            </a:pPr>
            <a:r>
              <a:t>Overall Conclusion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Machine learning models successfully identified clinical patterns linked to heart disease within the UCI dataset.</a:t>
            </a:r>
          </a:p>
          <a:p>
            <a:pPr>
              <a:spcAft>
                <a:spcPts val="1000"/>
              </a:spcAft>
              <a:defRPr sz="1800" b="0">
                <a:solidFill>
                  <a:srgbClr val="505A64"/>
                </a:solidFill>
                <a:latin typeface="Arial"/>
              </a:defRPr>
            </a:pPr>
            <a:r>
              <a:t>Nevertheless, due to dataset constraints, all outcomes must be deemed exploratory and will require external clinical validation protocols before hospital-level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956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Henry Escalante</cp:lastModifiedBy>
  <cp:revision>5</cp:revision>
  <dcterms:created xsi:type="dcterms:W3CDTF">2013-01-27T09:14:16Z</dcterms:created>
  <dcterms:modified xsi:type="dcterms:W3CDTF">2026-10-07T20:36:29Z</dcterms:modified>
  <cp:category/>
</cp:coreProperties>
</file>